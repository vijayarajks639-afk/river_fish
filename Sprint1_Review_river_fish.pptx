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Sprint 1 — Story Points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Story Points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Baseline
commit</c:v>
                </c:pt>
                <c:pt idx="1">
                  <c:v>Scope
added</c:v>
                </c:pt>
                <c:pt idx="2">
                  <c:v>Completed</c:v>
                </c:pt>
                <c:pt idx="3">
                  <c:v>Carried
over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16</c:v>
                </c:pt>
                <c:pt idx="2">
                  <c:v>43</c:v>
                </c:pt>
                <c:pt idx="3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Effort: 43 SP delivered (hours)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Planned
(human-equiv)</c:v>
                </c:pt>
                <c:pt idx="1">
                  <c:v>AI-actual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172</c:v>
                </c:pt>
                <c:pt idx="1">
                  <c:v>9.8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Effort by workstream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Research &amp; Planning</c:v>
                </c:pt>
                <c:pt idx="1">
                  <c:v>Lineage engine + hardening</c:v>
                </c:pt>
                <c:pt idx="2">
                  <c:v>LLM / NL + Visualization</c:v>
                </c:pt>
                <c:pt idx="3">
                  <c:v>Data platform (synth/market/gap)</c:v>
                </c:pt>
                <c:pt idx="4">
                  <c:v>Eval, Docs &amp; QA</c:v>
                </c:pt>
                <c:pt idx="5">
                  <c:v>Infra, Deploy, Retro &amp; Reporting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95</c:v>
                </c:pt>
                <c:pt idx="2">
                  <c:v>140</c:v>
                </c:pt>
                <c:pt idx="3">
                  <c:v>115</c:v>
                </c:pt>
                <c:pt idx="4">
                  <c:v>75</c:v>
                </c:pt>
                <c:pt idx="5">
                  <c:v>105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Sprint 1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6B800"/>
                </a:solidFill>
              </a:rPr>
              <a:t>river_fish — Column-Level Data Lineage  ·  Project 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2F2"/>
                </a:solidFill>
              </a:rPr>
              <a:t>Agile delivery metrics for stakeholder review  ·  30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FB3C8"/>
                </a:solidFill>
              </a:rPr>
              <a:t>Source: live Jira (REST)  ·  multi-agent delivery  ·  synthetic data, real public market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Delivered the full prototype (M1–M7); 2 items carried (externally blocked)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26974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697480" cy="91440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2704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02B5B"/>
                </a:solidFill>
              </a:rPr>
              <a:t>43 / 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221991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Story Points completed (93%)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25880"/>
            <a:ext cx="26974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25880"/>
            <a:ext cx="2697480" cy="91440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2704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02B5B"/>
                </a:solidFill>
              </a:rPr>
              <a:t>16 /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2221991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stories Done (89%)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26974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697480" cy="91440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52704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02B5B"/>
                </a:solidFill>
              </a:rPr>
              <a:t>~18×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221991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throughput vs human estimate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59" y="1325880"/>
            <a:ext cx="26974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59" y="1325880"/>
            <a:ext cx="2697480" cy="9144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152704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02B5B"/>
                </a:solidFill>
              </a:rPr>
              <a:t>9.8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1" y="2221991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AI-actual effort (1 session)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108960"/>
            <a:ext cx="26974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108960"/>
            <a:ext cx="2697480" cy="91440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31012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02B5B"/>
                </a:solidFill>
              </a:rPr>
              <a:t>18/18 · 20/20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005072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tests · eval green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108960"/>
            <a:ext cx="26974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108960"/>
            <a:ext cx="2697480" cy="91440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331012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02B5B"/>
                </a:solidFill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2" y="4005072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defects escaped to release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108960"/>
            <a:ext cx="26974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108960"/>
            <a:ext cx="2697480" cy="91440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31012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02B5B"/>
                </a:solidFill>
              </a:rPr>
              <a:t>+16 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4005072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scope added mid-sprint (+53%)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59" y="3108960"/>
            <a:ext cx="26974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52559" y="3108960"/>
            <a:ext cx="2697480" cy="91440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59" y="331012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02B5B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5711" y="4005072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carried over (deploy, QA)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7492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Headline: a full audit-grade lineage prototype delivered in one session with an AI agent team — quality gates green, governance proven, the only open items blocked on external inputs (HuggingFace credentials, a usage-limit reset).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Scope &amp; Velocity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30 SP committed · +16 SP emerged · 43 SP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80160"/>
          <a:ext cx="60350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37160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002B5B"/>
                </a:solidFill>
              </a:rPr>
              <a:t>▸  Velocity: </a:t>
            </a:r>
            <a:r>
              <a:rPr sz="1300">
                <a:solidFill>
                  <a:srgbClr val="333333"/>
                </a:solidFill>
              </a:rPr>
              <a:t>43 SP delivered in the sprint window.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02B5B"/>
                </a:solidFill>
              </a:rPr>
              <a:t>▸  Baseline 30 SP — 100% done. </a:t>
            </a:r>
            <a:r>
              <a:rPr sz="1300">
                <a:solidFill>
                  <a:srgbClr val="333333"/>
                </a:solidFill>
              </a:rPr>
              <a:t>Every originally-planned milestone (M1–M7) shipped.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02B5B"/>
                </a:solidFill>
              </a:rPr>
              <a:t>▸  Scope grew +16 SP (+53%) </a:t>
            </a:r>
            <a:r>
              <a:rPr sz="1300">
                <a:solidFill>
                  <a:srgbClr val="333333"/>
                </a:solidFill>
              </a:rPr>
              <a:t>mid-sprint: live market data, gap analysis, the synthetic data platform, deploy-prep, retro &amp; the agent-method demo.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02B5B"/>
                </a:solidFill>
              </a:rPr>
              <a:t>▸  Carried over 3 SP </a:t>
            </a:r>
            <a:r>
              <a:rPr sz="1300">
                <a:solidFill>
                  <a:srgbClr val="333333"/>
                </a:solidFill>
              </a:rPr>
              <a:t>(RF-17 deploy, RF-18 QA re-run) — both blocked on external inputs, not capacity.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02B5B"/>
                </a:solidFill>
              </a:rPr>
              <a:t>▸  Predictability caveat: </a:t>
            </a:r>
            <a:r>
              <a:rPr sz="1300">
                <a:solidFill>
                  <a:srgbClr val="333333"/>
                </a:solidFill>
              </a:rPr>
              <a:t>baseline commitment was fully met; the added scope was unestimated (see Process Findings).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Estimation &amp;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Planned-equivalent effort vs. AI-actual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80160"/>
          <a:ext cx="5486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554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6B800"/>
                </a:solidFill>
              </a:rPr>
              <a:t>~18×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468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throughput acceleration vs. a human-hour estimate (1 SP = 4 h convention).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4612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02B5B"/>
                </a:solidFill>
              </a:rPr>
              <a:t>▸  Planned-equivalent: </a:t>
            </a:r>
            <a:r>
              <a:rPr sz="1300">
                <a:solidFill>
                  <a:srgbClr val="333333"/>
                </a:solidFill>
              </a:rPr>
              <a:t>43 SP × 4 h = 172 human-hours.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2B5B"/>
                </a:solidFill>
              </a:rPr>
              <a:t>▸  AI-actual logged: </a:t>
            </a:r>
            <a:r>
              <a:rPr sz="1300">
                <a:solidFill>
                  <a:srgbClr val="333333"/>
                </a:solidFill>
              </a:rPr>
              <a:t>9.8 h (Jira worklogs, epic excluded to avoid roll-up double-count).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2B5B"/>
                </a:solidFill>
              </a:rPr>
              <a:t>▸  Baseline view: </a:t>
            </a:r>
            <a:r>
              <a:rPr sz="1300">
                <a:solidFill>
                  <a:srgbClr val="333333"/>
                </a:solidFill>
              </a:rPr>
              <a:t>30 SP estimated 120 h → 6.2 h actual = 19.4×.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2B5B"/>
                </a:solidFill>
              </a:rPr>
              <a:t>▸  Estimation accuracy: </a:t>
            </a:r>
            <a:r>
              <a:rPr sz="1300">
                <a:solidFill>
                  <a:srgbClr val="333333"/>
                </a:solidFill>
              </a:rPr>
              <a:t>baseline estimates were directionally sound; the unestimated additions are the gap to close next sprint.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Quality &amp; Engineering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Gated, red-teamed, honest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26974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697480" cy="91440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727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02B5B"/>
                </a:solidFill>
              </a:rPr>
              <a:t>18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267712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regression tests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974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97480" cy="91440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727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02B5B"/>
                </a:solidFill>
              </a:rPr>
              <a:t>20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2267712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eval (correctness, governance, adversarial)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26974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2697480" cy="91440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5727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02B5B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267712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defects caught pre-release (1 High, 2 Med)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59" y="1371600"/>
            <a:ext cx="26974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59" y="1371600"/>
            <a:ext cx="2697480" cy="91440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15727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02B5B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1" y="2267712"/>
            <a:ext cx="2551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defects escaped to release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154680"/>
            <a:ext cx="11365992" cy="29260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18211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QUALITY PRACTICES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11338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002B5B"/>
                </a:solidFill>
              </a:rPr>
              <a:t>▸  Deterministic, auditable backbone — </a:t>
            </a:r>
            <a:r>
              <a:rPr sz="1300">
                <a:solidFill>
                  <a:srgbClr val="333333"/>
                </a:solidFill>
              </a:rPr>
              <a:t>lineage proven correct vs. hand-authored ground truth.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02B5B"/>
                </a:solidFill>
              </a:rPr>
              <a:t>▸  Governance verified mechanically — </a:t>
            </a:r>
            <a:r>
              <a:rPr sz="1300">
                <a:solidFill>
                  <a:srgbClr val="333333"/>
                </a:solidFill>
              </a:rPr>
              <a:t>eval asserts SQL-text-only; no data rows reach an LLM.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02B5B"/>
                </a:solidFill>
              </a:rPr>
              <a:t>▸  Defects found early — </a:t>
            </a:r>
            <a:r>
              <a:rPr sz="1300">
                <a:solidFill>
                  <a:srgbClr val="333333"/>
                </a:solidFill>
              </a:rPr>
              <a:t>find_node false-match (High) and the lstrip name-corruption (Med) caught and fixed before release.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02B5B"/>
                </a:solidFill>
              </a:rPr>
              <a:t>▸  Independent QA — </a:t>
            </a:r>
            <a:r>
              <a:rPr sz="1300">
                <a:solidFill>
                  <a:srgbClr val="333333"/>
                </a:solidFill>
              </a:rPr>
              <a:t>interim red-team checkpoint; a second independent re-run is scheduled (RF-18).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02B5B"/>
                </a:solidFill>
              </a:rPr>
              <a:t>▸  Honest reporting — </a:t>
            </a:r>
            <a:r>
              <a:rPr sz="1300">
                <a:solidFill>
                  <a:srgbClr val="333333"/>
                </a:solidFill>
              </a:rPr>
              <a:t>the eval harness reports failures rather than hiding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Where the Effort Went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AI-actual minutes by workstream (590 min total)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34440"/>
          <a:ext cx="113385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Process Findings &amp;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Candid — for the retrospective and next-sprint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76072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B"/>
                </a:solidFill>
              </a:rPr>
              <a:t>Process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002B5B"/>
                </a:solidFill>
              </a:rPr>
              <a:t>▸  Scope growth unestimated — </a:t>
            </a:r>
            <a:r>
              <a:rPr sz="1250">
                <a:solidFill>
                  <a:srgbClr val="333333"/>
                </a:solidFill>
              </a:rPr>
              <a:t>+16 SP (+53%) added mid-sprint without points; estimate additions up front next time.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02B5B"/>
                </a:solidFill>
              </a:rPr>
              <a:t>▸  Sprints defined but not run — </a:t>
            </a:r>
            <a:r>
              <a:rPr sz="1250">
                <a:solidFill>
                  <a:srgbClr val="333333"/>
                </a:solidFill>
              </a:rPr>
              <a:t>two sprints sit in 'future'; work executed as continuous flow → no native burndown until a sprint is formally closed.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02B5B"/>
                </a:solidFill>
              </a:rPr>
              <a:t>▸  Lead time ≠ effort — </a:t>
            </a:r>
            <a:r>
              <a:rPr sz="1250">
                <a:solidFill>
                  <a:srgbClr val="333333"/>
                </a:solidFill>
              </a:rPr>
              <a:t>~6 days calendar lead, but ~9.8 h actual effort (bursty/compressed).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02B5B"/>
                </a:solidFill>
              </a:rPr>
              <a:t>▸  Board automation gated — </a:t>
            </a:r>
            <a:r>
              <a:rPr sz="1250">
                <a:solidFill>
                  <a:srgbClr val="333333"/>
                </a:solidFill>
              </a:rPr>
              <a:t>the safety guardrail blocked auto-updating Jira (SP back-fill, sprint close) — needs explicit approval.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188720"/>
            <a:ext cx="5696712" cy="50292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0000"/>
                </a:solidFill>
              </a:rPr>
              <a:t>Risks / impediments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002B5B"/>
                </a:solidFill>
              </a:rPr>
              <a:t>▸  RF-17 deploy — </a:t>
            </a:r>
            <a:r>
              <a:rPr sz="1250">
                <a:solidFill>
                  <a:srgbClr val="702018"/>
                </a:solidFill>
              </a:rPr>
              <a:t>blocked on HuggingFace account/token (external).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02B5B"/>
                </a:solidFill>
              </a:rPr>
              <a:t>▸  RF-18 QA re-run — </a:t>
            </a:r>
            <a:r>
              <a:rPr sz="1250">
                <a:solidFill>
                  <a:srgbClr val="702018"/>
                </a:solidFill>
              </a:rPr>
              <a:t>blocked on usage-limit reset (10pm IST).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02B5B"/>
                </a:solidFill>
              </a:rPr>
              <a:t>▸  Security — </a:t>
            </a:r>
            <a:r>
              <a:rPr sz="1250">
                <a:solidFill>
                  <a:srgbClr val="702018"/>
                </a:solidFill>
              </a:rPr>
              <a:t>two API tokens were exposed in chat → rotation pending (high priority).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02B5B"/>
                </a:solidFill>
              </a:rPr>
              <a:t>▸  Single-session concentration — </a:t>
            </a:r>
            <a:r>
              <a:rPr sz="1250">
                <a:solidFill>
                  <a:srgbClr val="702018"/>
                </a:solidFill>
              </a:rPr>
              <a:t>delivery depended on one continuous session; spread cadence for resilience.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Governance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Controls held throughout — the basis for an audit conversation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>
                <a:solidFill>
                  <a:srgbClr val="002B5B"/>
                </a:solidFill>
              </a:rPr>
              <a:t>▸  Data boundary — </a:t>
            </a:r>
            <a:r>
              <a:rPr sz="1400">
                <a:solidFill>
                  <a:srgbClr val="333333"/>
                </a:solidFill>
              </a:rPr>
              <a:t>customer/counterparty data 100% SYNTHETIC (DPDP-safe); only PUBLIC market data is real.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002B5B"/>
                </a:solidFill>
              </a:rPr>
              <a:t>▸  On-prem proven — </a:t>
            </a:r>
            <a:r>
              <a:rPr sz="1400">
                <a:solidFill>
                  <a:srgbClr val="333333"/>
                </a:solidFill>
              </a:rPr>
              <a:t>the engine reads SQL text only; no data rows enter an LLM prompt (asserted by the eval harness).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002B5B"/>
                </a:solidFill>
              </a:rPr>
              <a:t>▸  Audit-grade lineage — </a:t>
            </a:r>
            <a:r>
              <a:rPr sz="1400">
                <a:solidFill>
                  <a:srgbClr val="333333"/>
                </a:solidFill>
              </a:rPr>
              <a:t>deterministic parser → DAG; the LLM only explains, labelled 'suggestion — needs sign-off'.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002B5B"/>
                </a:solidFill>
              </a:rPr>
              <a:t>▸  BCBS 239 alignment — </a:t>
            </a:r>
            <a:r>
              <a:rPr sz="1400">
                <a:solidFill>
                  <a:srgbClr val="333333"/>
                </a:solidFill>
              </a:rPr>
              <a:t>attribute (column)-level traceability, the regulatory expectation in the domain.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002B5B"/>
                </a:solidFill>
              </a:rPr>
              <a:t>▸  Human-in-the-loop — </a:t>
            </a:r>
            <a:r>
              <a:rPr sz="1400">
                <a:solidFill>
                  <a:srgbClr val="333333"/>
                </a:solidFill>
              </a:rPr>
              <a:t>sign-off, repository pushes, and all credential handling stayed with the human owner.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669280"/>
            <a:ext cx="11548872" cy="640080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790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Result: speed with governance intact — a repeatable, auditable AI-accelerated delivery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Next Steps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Owner action in bold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>
                <a:solidFill>
                  <a:srgbClr val="002B5B"/>
                </a:solidFill>
              </a:rPr>
              <a:t>▸  Rotate the two exposed API tokens — </a:t>
            </a:r>
            <a:r>
              <a:rPr sz="1400">
                <a:solidFill>
                  <a:srgbClr val="333333"/>
                </a:solidFill>
              </a:rPr>
              <a:t>HIGH priority security action (owner).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002B5B"/>
                </a:solidFill>
              </a:rPr>
              <a:t>▸  Deploy to HuggingFace (RF-17) — </a:t>
            </a:r>
            <a:r>
              <a:rPr sz="1400">
                <a:solidFill>
                  <a:srgbClr val="333333"/>
                </a:solidFill>
              </a:rPr>
              <a:t>owner provides HF token; keep the public Space $0/key-less.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002B5B"/>
                </a:solidFill>
              </a:rPr>
              <a:t>▸  Independent QA re-run (RF-18) — </a:t>
            </a:r>
            <a:r>
              <a:rPr sz="1400">
                <a:solidFill>
                  <a:srgbClr val="333333"/>
                </a:solidFill>
              </a:rPr>
              <a:t>after the usage-limit reset.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002B5B"/>
                </a:solidFill>
              </a:rPr>
              <a:t>▸  Formalize Sprint 1 in Jira — </a:t>
            </a:r>
            <a:r>
              <a:rPr sz="1400">
                <a:solidFill>
                  <a:srgbClr val="333333"/>
                </a:solidFill>
              </a:rPr>
              <a:t>approve the SP back-fill + sprint close to generate native velocity/burndown (currently gated).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002B5B"/>
                </a:solidFill>
              </a:rPr>
              <a:t>▸  Estimate scope additions up front — </a:t>
            </a:r>
            <a:r>
              <a:rPr sz="1400">
                <a:solidFill>
                  <a:srgbClr val="333333"/>
                </a:solidFill>
              </a:rPr>
              <a:t>carry the retro action to improve predictability.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002B5B"/>
                </a:solidFill>
              </a:rPr>
              <a:t>▸  Sprint 2 candidates — </a:t>
            </a:r>
            <a:r>
              <a:rPr sz="1400">
                <a:solidFill>
                  <a:srgbClr val="333333"/>
                </a:solidFill>
              </a:rPr>
              <a:t>HF deploy, independent QA, the agent-method showcase, and any stakeholder-requested extensions.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43600"/>
            <a:ext cx="11548872" cy="5486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4418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river_fish · Sprint 1 · 43/46 SP · 18/18 + 20/20 green · one team, not human-vs-AI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