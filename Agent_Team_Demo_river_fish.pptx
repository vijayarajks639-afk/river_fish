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88952" cy="54864"/>
          </a:xfrm>
          <a:prstGeom prst="rect">
            <a:avLst/>
          </a:prstGeom>
          <a:solidFill>
            <a:srgbClr val="E6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How an AI Agent Team Built river_fish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97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6B800"/>
                </a:solidFill>
              </a:rPr>
              <a:t>A multi-agent software-delivery story — speed with governance intact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089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2F2F2"/>
                </a:solidFill>
              </a:rPr>
              <a:t>Column-Level Data Lineage Prototype  ·  Banking / on-prem  ·  30 Jun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1264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FB3C8"/>
                </a:solidFill>
              </a:rPr>
              <a:t>Vijayaraj Shanmugam — Product Owner &amp; Orchestration   |   Claude — Orchestrator + Specialist Agents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612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6B800"/>
                </a:solidFill>
              </a:rPr>
              <a:t>Build an audit-grade prototype fast — without losing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E6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234440"/>
            <a:ext cx="11548872" cy="1371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</a:rPr>
              <a:t>Build a credible, audit-grade column-level data-lineage prototype for a multi-source banking pipeline — with a natural-language interface and a live demo — in a single working session, while keeping every governance control intact.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834640"/>
            <a:ext cx="11548872" cy="27432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2862072"/>
            <a:ext cx="113659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THE TENSION EVERY LEADER FEELS WITH AI-ACCELERATED DELIVERY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00400"/>
            <a:ext cx="11064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002B5B"/>
                </a:solidFill>
              </a:rPr>
              <a:t>▸  Speed vs. assurance — </a:t>
            </a:r>
            <a:r>
              <a:rPr sz="1400">
                <a:solidFill>
                  <a:srgbClr val="333333"/>
                </a:solidFill>
              </a:rPr>
              <a:t>move fast, but the lineage must be auditable (BCBS 239), not a black box.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02B5B"/>
                </a:solidFill>
              </a:rPr>
              <a:t>▸  Parallelism vs. collisions — </a:t>
            </a:r>
            <a:r>
              <a:rPr sz="1400">
                <a:solidFill>
                  <a:srgbClr val="333333"/>
                </a:solidFill>
              </a:rPr>
              <a:t>many workstreams at once, but no stepping on each other's code.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02B5B"/>
                </a:solidFill>
              </a:rPr>
              <a:t>▸  AI reach vs. data governance — </a:t>
            </a:r>
            <a:r>
              <a:rPr sz="1400">
                <a:solidFill>
                  <a:srgbClr val="333333"/>
                </a:solidFill>
              </a:rPr>
              <a:t>use LLMs, but customer data cannot leave / cannot enter a prompt.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02B5B"/>
                </a:solidFill>
              </a:rPr>
              <a:t>▸  Throughput vs. quality — </a:t>
            </a:r>
            <a:r>
              <a:rPr sz="1400">
                <a:solidFill>
                  <a:srgbClr val="333333"/>
                </a:solidFill>
              </a:rPr>
              <a:t>compress time, but keep a real QA gate and honest reporting.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The Team &amp;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612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6B800"/>
                </a:solidFill>
              </a:rPr>
              <a:t>One human owner · one AI orchestrator · specialist AI agents · agile cadence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E6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234440"/>
            <a:ext cx="11548872" cy="502920"/>
          </a:xfrm>
          <a:prstGeom prst="rect">
            <a:avLst/>
          </a:prstGeom>
          <a:solidFill>
            <a:srgbClr val="1F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Product Owner (human)  →  Orchestrator (lead AI)  →  Specialist Agents (parallel)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920240"/>
            <a:ext cx="11548872" cy="65836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920240"/>
            <a:ext cx="91440" cy="658368"/>
          </a:xfrm>
          <a:prstGeom prst="rect">
            <a:avLst/>
          </a:prstGeom>
          <a:solidFill>
            <a:srgbClr val="E6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03911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02B5B"/>
                </a:solidFill>
              </a:rPr>
              <a:t>Product Owner — human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03911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3333"/>
                </a:solidFill>
              </a:rPr>
              <a:t>Vision, scope, sign-off, governance, credentials, push authority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670048"/>
            <a:ext cx="11548872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670048"/>
            <a:ext cx="91440" cy="658368"/>
          </a:xfrm>
          <a:prstGeom prst="rect">
            <a:avLst/>
          </a:prstGeom>
          <a:solidFill>
            <a:srgbClr val="1F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788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02B5B"/>
                </a:solidFill>
              </a:rPr>
              <a:t>Orchestrator — lead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788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3333"/>
                </a:solidFill>
              </a:rPr>
              <a:t>Architecture, integration, M4 NL interface, QA gate, ALL git commits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419856"/>
            <a:ext cx="11548872" cy="65836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3419856"/>
            <a:ext cx="91440" cy="658368"/>
          </a:xfrm>
          <a:prstGeom prst="rect">
            <a:avLst/>
          </a:prstGeom>
          <a:solidFill>
            <a:srgbClr val="0A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53872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02B5B"/>
                </a:solidFill>
              </a:rPr>
              <a:t>Data Generator 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353872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3333"/>
                </a:solidFill>
              </a:rPr>
              <a:t>Synthetic 11-system bank + DuckDB + extended SQL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4169664"/>
            <a:ext cx="11548872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4169664"/>
            <a:ext cx="91440" cy="658368"/>
          </a:xfrm>
          <a:prstGeom prst="rect">
            <a:avLst/>
          </a:prstGeom>
          <a:solidFill>
            <a:srgbClr val="0A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288536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02B5B"/>
                </a:solidFill>
              </a:rPr>
              <a:t>Research / Docs agent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4288536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3333"/>
                </a:solidFill>
              </a:rPr>
              <a:t>Market &amp; future-of-data + learning/interview docs (cited)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919472"/>
            <a:ext cx="11548872" cy="65836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4919472"/>
            <a:ext cx="91440" cy="658368"/>
          </a:xfrm>
          <a:prstGeom prst="rect">
            <a:avLst/>
          </a:prstGeom>
          <a:solidFill>
            <a:srgbClr val="0A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038344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02B5B"/>
                </a:solidFill>
              </a:rPr>
              <a:t>Reg-RAG UI agent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5038344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3333"/>
                </a:solidFill>
              </a:rPr>
              <a:t>Streamlit UI + deploy prep for the sister project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5669279"/>
            <a:ext cx="11548872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5669279"/>
            <a:ext cx="91440" cy="658368"/>
          </a:xfrm>
          <a:prstGeom prst="rect">
            <a:avLst/>
          </a:prstGeom>
          <a:solidFill>
            <a:srgbClr val="0A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5788151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02B5B"/>
                </a:solidFill>
              </a:rPr>
              <a:t>QA + Deploy-prep agents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0" y="5788151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3333"/>
                </a:solidFill>
              </a:rPr>
              <a:t>Independent red-team review · HF deploy packaging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" y="6400800"/>
            <a:ext cx="115488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002B5B"/>
                </a:solidFill>
              </a:rPr>
              <a:t>Cadence: Jira story-first · live worklogs · interim QA checkpoint · sprint retro (agents included)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How Work Was Parallelized — Without Collisions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612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6B800"/>
                </a:solidFill>
              </a:rPr>
              <a:t>Partition by file surface · only the orchestrator commits the shared repo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E6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234440"/>
            <a:ext cx="5577840" cy="27432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261872"/>
            <a:ext cx="539495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FILE-SURFACE OWNERSHIP (THE ANTI-COLLISION RULE)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600200"/>
            <a:ext cx="5577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>
                <a:solidFill>
                  <a:srgbClr val="333333"/>
                </a:solidFill>
              </a:rPr>
              <a:t>▸  Data Generator → generate_data.py, sql_extended/, schema.py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333333"/>
                </a:solidFill>
              </a:rPr>
              <a:t>▸  Docs → MARKET_AND_FUTURE.md, LEARNING_LINEAGE.md (new files)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333333"/>
                </a:solidFill>
              </a:rPr>
              <a:t>▸  Reg-RAG UI → reg_rag_assistant/* (separate directory)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333333"/>
                </a:solidFill>
              </a:rPr>
              <a:t>▸  QA → CHECKPOINT_REVIEW_M3M5.md (review only, no code)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333333"/>
                </a:solidFill>
              </a:rPr>
              <a:t>▸  Deploy-prep → requirements.txt, DEPLOY_HF.md, README front-matter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333333"/>
                </a:solidFill>
              </a:rPr>
              <a:t>▸  Orchestrator → lineage/nl/integration + EVERY commit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1234440"/>
            <a:ext cx="5788152" cy="27432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72200" y="1261872"/>
            <a:ext cx="56052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WHY IT 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1600200"/>
            <a:ext cx="56692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50" b="1">
                <a:solidFill>
                  <a:srgbClr val="002B5B"/>
                </a:solidFill>
              </a:rPr>
              <a:t>▸  No two writers per file — </a:t>
            </a:r>
            <a:r>
              <a:rPr sz="1250">
                <a:solidFill>
                  <a:srgbClr val="333333"/>
                </a:solidFill>
              </a:rPr>
              <a:t>true parallelism, zero merge conflicts.</a:t>
            </a:r>
          </a:p>
          <a:p>
            <a:pPr>
              <a:spcAft>
                <a:spcPts val="800"/>
              </a:spcAft>
            </a:pPr>
            <a:r>
              <a:rPr sz="1250" b="1">
                <a:solidFill>
                  <a:srgbClr val="002B5B"/>
                </a:solidFill>
              </a:rPr>
              <a:t>▸  Single committer — </a:t>
            </a:r>
            <a:r>
              <a:rPr sz="1250">
                <a:solidFill>
                  <a:srgbClr val="333333"/>
                </a:solidFill>
              </a:rPr>
              <a:t>the orchestrator serializes git; agents just produce files.</a:t>
            </a:r>
          </a:p>
          <a:p>
            <a:pPr>
              <a:spcAft>
                <a:spcPts val="800"/>
              </a:spcAft>
            </a:pPr>
            <a:r>
              <a:rPr sz="1250" b="1">
                <a:solidFill>
                  <a:srgbClr val="002B5B"/>
                </a:solidFill>
              </a:rPr>
              <a:t>▸  Cold-start briefs — </a:t>
            </a:r>
            <a:r>
              <a:rPr sz="1250">
                <a:solidFill>
                  <a:srgbClr val="333333"/>
                </a:solidFill>
              </a:rPr>
              <a:t>each agent reads-first (mandatory STEP 0) so it grounds in real code.</a:t>
            </a:r>
          </a:p>
          <a:p>
            <a:pPr>
              <a:spcAft>
                <a:spcPts val="800"/>
              </a:spcAft>
            </a:pPr>
            <a:r>
              <a:rPr sz="1250" b="1">
                <a:solidFill>
                  <a:srgbClr val="002B5B"/>
                </a:solidFill>
              </a:rPr>
              <a:t>▸  Continuous briefing log — </a:t>
            </a:r>
            <a:r>
              <a:rPr sz="1250">
                <a:solidFill>
                  <a:srgbClr val="333333"/>
                </a:solidFill>
              </a:rPr>
              <a:t>a living charter keeps agents informed as the design evolves.</a:t>
            </a:r>
          </a:p>
          <a:p>
            <a:pPr>
              <a:spcAft>
                <a:spcPts val="800"/>
              </a:spcAft>
            </a:pPr>
            <a:r>
              <a:rPr sz="1250" b="1">
                <a:solidFill>
                  <a:srgbClr val="002B5B"/>
                </a:solidFill>
              </a:rPr>
              <a:t>▸  Background execution — </a:t>
            </a:r>
            <a:r>
              <a:rPr sz="1250">
                <a:solidFill>
                  <a:srgbClr val="333333"/>
                </a:solidFill>
              </a:rPr>
              <a:t>agents run async while the orchestrator does critical-path work.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5120640"/>
            <a:ext cx="11548872" cy="1280160"/>
          </a:xfrm>
          <a:prstGeom prst="rect">
            <a:avLst/>
          </a:prstGeom>
          <a:solidFill>
            <a:srgbClr val="E8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52120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5CA8"/>
                </a:solidFill>
              </a:rPr>
              <a:t>Time compression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5321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Four workstreams advanced concurrently instead of sequentially; the orchestrator integrated while specialists built. The binding constraint was clarity of brief — not headcount, not tooling.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Governance Under Parallelism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612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6B800"/>
                </a:solidFill>
              </a:rPr>
              <a:t>The hard part of AI delivery — controls that held across every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E6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325880"/>
            <a:ext cx="11548872" cy="84124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325880"/>
            <a:ext cx="91440" cy="841248"/>
          </a:xfrm>
          <a:prstGeom prst="rect">
            <a:avLst/>
          </a:prstGeom>
          <a:solidFill>
            <a:srgbClr val="0A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72184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50" b="1">
                <a:solidFill>
                  <a:srgbClr val="002B5B"/>
                </a:solidFill>
              </a:rPr>
              <a:t>▸  Synthetic vs. real data boundary — </a:t>
            </a:r>
            <a:r>
              <a:rPr sz="1350">
                <a:solidFill>
                  <a:srgbClr val="333333"/>
                </a:solidFill>
              </a:rPr>
              <a:t>customer data 100% synthetic (DPDP-safe); only PUBLIC market data is real. Held across all agents.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286000"/>
            <a:ext cx="11548872" cy="841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2286000"/>
            <a:ext cx="91440" cy="841248"/>
          </a:xfrm>
          <a:prstGeom prst="rect">
            <a:avLst/>
          </a:prstGeom>
          <a:solidFill>
            <a:srgbClr val="0A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432304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50" b="1">
                <a:solidFill>
                  <a:srgbClr val="002B5B"/>
                </a:solidFill>
              </a:rPr>
              <a:t>▸  Audit-grade backbone — </a:t>
            </a:r>
            <a:r>
              <a:rPr sz="1350">
                <a:solidFill>
                  <a:srgbClr val="333333"/>
                </a:solidFill>
              </a:rPr>
              <a:t>lineage is deterministic (parser → DAG); the LLM only explains and is labelled 'suggestion — needs sign-off'.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246120"/>
            <a:ext cx="11548872" cy="84124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3246120"/>
            <a:ext cx="91440" cy="841248"/>
          </a:xfrm>
          <a:prstGeom prst="rect">
            <a:avLst/>
          </a:prstGeom>
          <a:solidFill>
            <a:srgbClr val="0A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392424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50" b="1">
                <a:solidFill>
                  <a:srgbClr val="002B5B"/>
                </a:solidFill>
              </a:rPr>
              <a:t>▸  On-prem proof, mechanical — </a:t>
            </a:r>
            <a:r>
              <a:rPr sz="1350">
                <a:solidFill>
                  <a:srgbClr val="333333"/>
                </a:solidFill>
              </a:rPr>
              <a:t>the eval harness asserts the engine reads SQL text only, imports no data engine, and no rows enter a prompt.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4206240"/>
            <a:ext cx="11548872" cy="841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4206240"/>
            <a:ext cx="91440" cy="841248"/>
          </a:xfrm>
          <a:prstGeom prst="rect">
            <a:avLst/>
          </a:prstGeom>
          <a:solidFill>
            <a:srgbClr val="0A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352544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50" b="1">
                <a:solidFill>
                  <a:srgbClr val="002B5B"/>
                </a:solidFill>
              </a:rPr>
              <a:t>▸  Human-in-the-loop control points — </a:t>
            </a:r>
            <a:r>
              <a:rPr sz="1350">
                <a:solidFill>
                  <a:srgbClr val="333333"/>
                </a:solidFill>
              </a:rPr>
              <a:t>sign-off, repository pushes, and ALL credential handling stayed with the human.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5166360"/>
            <a:ext cx="11548872" cy="84124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5166360"/>
            <a:ext cx="91440" cy="841248"/>
          </a:xfrm>
          <a:prstGeom prst="rect">
            <a:avLst/>
          </a:prstGeom>
          <a:solidFill>
            <a:srgbClr val="0A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5312664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50" b="1">
                <a:solidFill>
                  <a:srgbClr val="002B5B"/>
                </a:solidFill>
              </a:rPr>
              <a:t>▸  Honest QA — </a:t>
            </a:r>
            <a:r>
              <a:rPr sz="1350">
                <a:solidFill>
                  <a:srgbClr val="333333"/>
                </a:solidFill>
              </a:rPr>
              <a:t>an interim red-team gate; failures reported, never hidden; the agents' own retro caught a security risk before harm.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What the Agents Said — Retro Voices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612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6B800"/>
                </a:solidFill>
              </a:rPr>
              <a:t>We ran the retro WITH the agents (one team, not human-vs-AI)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E6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325880"/>
            <a:ext cx="11548872" cy="14813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325880"/>
            <a:ext cx="109728" cy="1481328"/>
          </a:xfrm>
          <a:prstGeom prst="rect">
            <a:avLst/>
          </a:prstGeom>
          <a:solidFill>
            <a:srgbClr val="B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35607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2B5B"/>
                </a:solidFill>
              </a:rPr>
              <a:t>Reg-RAG UI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333333"/>
                </a:solidFill>
              </a:rPr>
              <a:t>“Clear briefing meant zero rework.”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1508760"/>
            <a:ext cx="5852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3333"/>
                </a:solidFill>
              </a:rPr>
              <a:t>⚑ Security catch: a PUBLIC demo Space with an API key lets anyone spend it — keep public demos $0/key-less.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953512"/>
            <a:ext cx="11548872" cy="14813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2953512"/>
            <a:ext cx="109728" cy="1481328"/>
          </a:xfrm>
          <a:prstGeom prst="rect">
            <a:avLst/>
          </a:prstGeom>
          <a:solidFill>
            <a:srgbClr val="E6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0632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2B5B"/>
                </a:solidFill>
              </a:rPr>
              <a:t>Research / Docs 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456432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333333"/>
                </a:solidFill>
              </a:rPr>
              <a:t>“Read-first briefing gave the exact repo vocabulary.”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3136392"/>
            <a:ext cx="5852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3333"/>
                </a:solidFill>
              </a:rPr>
              <a:t>⚑ Caution: vendor/Gartner claims age fast — say ‘analysts suggest’, not ‘Gartner says’.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581144"/>
            <a:ext cx="11548872" cy="14813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4581144"/>
            <a:ext cx="109728" cy="1481328"/>
          </a:xfrm>
          <a:prstGeom prst="rect">
            <a:avLst/>
          </a:prstGeom>
          <a:solidFill>
            <a:srgbClr val="0A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690872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2B5B"/>
                </a:solidFill>
              </a:rPr>
              <a:t>Data Generator 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084064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333333"/>
                </a:solidFill>
              </a:rPr>
              <a:t>“The clean pipeline contract let me extend confidently.”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0" y="4764024"/>
            <a:ext cx="5852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3333"/>
                </a:solidFill>
              </a:rPr>
              <a:t>⚑ Flagged its own duplicate-key shortcut → orchestrator merged it before commit.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Outcomes &amp;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612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6B800"/>
                </a:solidFill>
              </a:rPr>
              <a:t>Shipped, verified, governed — in one session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E6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371600"/>
            <a:ext cx="2697480" cy="1554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71600"/>
            <a:ext cx="2697480" cy="109728"/>
          </a:xfrm>
          <a:prstGeom prst="rect">
            <a:avLst/>
          </a:prstGeom>
          <a:solidFill>
            <a:srgbClr val="0A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600200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2B5B"/>
                </a:solidFill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86000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</a:rPr>
              <a:t>milestones (M1–M7)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371600"/>
            <a:ext cx="2697480" cy="1554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91840" y="1371600"/>
            <a:ext cx="2697480" cy="109728"/>
          </a:xfrm>
          <a:prstGeom prst="rect">
            <a:avLst/>
          </a:prstGeom>
          <a:solidFill>
            <a:srgbClr val="0A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1600200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2B5B"/>
                </a:solidFill>
              </a:rPr>
              <a:t>18/18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286000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</a:rPr>
              <a:t>regression tests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1371600"/>
            <a:ext cx="2697480" cy="1554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371600"/>
            <a:ext cx="2697480" cy="109728"/>
          </a:xfrm>
          <a:prstGeom prst="rect">
            <a:avLst/>
          </a:prstGeom>
          <a:solidFill>
            <a:srgbClr val="0A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1600200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2B5B"/>
                </a:solidFill>
              </a:rPr>
              <a:t>20/20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286000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</a:rPr>
              <a:t>eval (correctness+governance)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52559" y="1371600"/>
            <a:ext cx="2697480" cy="1554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52559" y="1371600"/>
            <a:ext cx="2697480" cy="109728"/>
          </a:xfrm>
          <a:prstGeom prst="rect">
            <a:avLst/>
          </a:prstGeom>
          <a:solidFill>
            <a:srgbClr val="1F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59" y="1600200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2B5B"/>
                </a:solidFill>
              </a:rPr>
              <a:t>11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3999" y="2286000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</a:rPr>
              <a:t>source systems modelled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3108960"/>
            <a:ext cx="2697480" cy="1554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" y="3108960"/>
            <a:ext cx="2697480" cy="109728"/>
          </a:xfrm>
          <a:prstGeom prst="rect">
            <a:avLst/>
          </a:prstGeom>
          <a:solidFill>
            <a:srgbClr val="1F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3337560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2B5B"/>
                </a:solidFill>
              </a:rPr>
              <a:t>18,742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023360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</a:rPr>
              <a:t>synthetic rows (zero PII)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91840" y="3108960"/>
            <a:ext cx="2697480" cy="1554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91840" y="3108960"/>
            <a:ext cx="2697480" cy="109728"/>
          </a:xfrm>
          <a:prstGeom prst="rect">
            <a:avLst/>
          </a:prstGeom>
          <a:solidFill>
            <a:srgbClr val="1F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91840" y="3337560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2B5B"/>
                </a:solidFill>
              </a:rPr>
              <a:t>~17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280" y="4023360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</a:rPr>
              <a:t>commits, all pushed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72200" y="3108960"/>
            <a:ext cx="2697480" cy="1554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72200" y="3108960"/>
            <a:ext cx="2697480" cy="109728"/>
          </a:xfrm>
          <a:prstGeom prst="rect">
            <a:avLst/>
          </a:prstGeom>
          <a:solidFill>
            <a:srgbClr val="E6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72200" y="3337560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2B5B"/>
                </a:solidFill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4023360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</a:rPr>
              <a:t>AI agents on the team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52559" y="3108960"/>
            <a:ext cx="2697480" cy="1554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052559" y="3108960"/>
            <a:ext cx="2697480" cy="109728"/>
          </a:xfrm>
          <a:prstGeom prst="rect">
            <a:avLst/>
          </a:prstGeom>
          <a:solidFill>
            <a:srgbClr val="E6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52559" y="3337560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2B5B"/>
                </a:solidFill>
              </a:rPr>
              <a:t>~9.5h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3999" y="4023360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</a:rPr>
              <a:t>AI-actual, 1 session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" y="50292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1">
                <a:solidFill>
                  <a:srgbClr val="002B5B"/>
                </a:solidFill>
              </a:rPr>
              <a:t>Quality gates green throughout · governance proven mechanically · honest QA with failures reported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5486400"/>
            <a:ext cx="11365992" cy="914400"/>
          </a:xfrm>
          <a:prstGeom prst="rect">
            <a:avLst/>
          </a:prstGeom>
          <a:solidFill>
            <a:srgbClr val="E8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559612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The leadership takeaway: a repeatable, governed method to accelerate delivery with an AI agent team — durable briefs, file-surface partitioning, retros that include the agents, and the human owning sign-off. One team, not human-vs-AI.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The Repeatable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612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6B800"/>
                </a:solidFill>
              </a:rPr>
              <a:t>What to reuse on the next prototype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E6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338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002B5B"/>
                </a:solidFill>
              </a:rPr>
              <a:t>▸  Brief agents cold, read-first — </a:t>
            </a:r>
            <a:r>
              <a:rPr sz="1400">
                <a:solidFill>
                  <a:srgbClr val="333333"/>
                </a:solidFill>
              </a:rPr>
              <a:t>a mandatory STEP 0 to read the real code grounds output and kills rework.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02B5B"/>
                </a:solidFill>
              </a:rPr>
              <a:t>▸  Partition by file surface — </a:t>
            </a:r>
            <a:r>
              <a:rPr sz="1400">
                <a:solidFill>
                  <a:srgbClr val="333333"/>
                </a:solidFill>
              </a:rPr>
              <a:t>each agent owns distinct files; one committer serializes the repo.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02B5B"/>
                </a:solidFill>
              </a:rPr>
              <a:t>▸  Keep a living briefing log — </a:t>
            </a:r>
            <a:r>
              <a:rPr sz="1400">
                <a:solidFill>
                  <a:srgbClr val="333333"/>
                </a:solidFill>
              </a:rPr>
              <a:t>‘continuously informed’ charters so agents absorb design changes.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02B5B"/>
                </a:solidFill>
              </a:rPr>
              <a:t>▸  Run async, integrate centrally — </a:t>
            </a:r>
            <a:r>
              <a:rPr sz="1400">
                <a:solidFill>
                  <a:srgbClr val="333333"/>
                </a:solidFill>
              </a:rPr>
              <a:t>specialists in the background; the orchestrator on the critical path.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02B5B"/>
                </a:solidFill>
              </a:rPr>
              <a:t>▸  Gate with honest QA — </a:t>
            </a:r>
            <a:r>
              <a:rPr sz="1400">
                <a:solidFill>
                  <a:srgbClr val="333333"/>
                </a:solidFill>
              </a:rPr>
              <a:t>an independent red-team; report failures; fix before downstream impact.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02B5B"/>
                </a:solidFill>
              </a:rPr>
              <a:t>▸  Retro WITH the agents — </a:t>
            </a:r>
            <a:r>
              <a:rPr sz="1400">
                <a:solidFill>
                  <a:srgbClr val="333333"/>
                </a:solidFill>
              </a:rPr>
              <a:t>their candid feedback surfaced a real security risk and a latent bug.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02B5B"/>
                </a:solidFill>
              </a:rPr>
              <a:t>▸  Human owns the irreversibles — </a:t>
            </a:r>
            <a:r>
              <a:rPr sz="1400">
                <a:solidFill>
                  <a:srgbClr val="333333"/>
                </a:solidFill>
              </a:rPr>
              <a:t>sign-off, pushes, credentials, and the data-governance boundary.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5989320"/>
            <a:ext cx="11548872" cy="548640"/>
          </a:xfrm>
          <a:prstGeom prst="rect">
            <a:avLst/>
          </a:prstGeom>
          <a:solidFill>
            <a:srgbClr val="00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089904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</a:rPr>
              <a:t>river_fish · github.com/vijayarajks639-afk/river_fish · synthetic data · real public market data · one team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